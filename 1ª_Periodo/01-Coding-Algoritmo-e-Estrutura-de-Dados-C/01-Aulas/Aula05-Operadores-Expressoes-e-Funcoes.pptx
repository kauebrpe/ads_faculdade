
<file path=[Content_Types].xml><?xml version="1.0" encoding="utf-8"?>
<Types xmlns="http://schemas.openxmlformats.org/package/2006/content-types">
  <Default Extension="jpg" ContentType="image/jpeg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0" r:id="rId6"/>
    <p:sldMasterId id="2147483655" r:id="rId7"/>
    <p:sldMasterId id="2147483657" r:id="rId8"/>
    <p:sldMasterId id="2147483659" r:id="rId9"/>
    <p:sldMasterId id="2147483661" r:id="rId10"/>
    <p:sldMasterId id="2147483663" r:id="rId11"/>
    <p:sldMasterId id="2147483665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hcQdXhMdUCDmYOF5ADAoDLIFoq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512278-694E-4A24-94C4-7F48ACBEB917}">
  <a:tblStyle styleId="{56512278-694E-4A24-94C4-7F48ACBEB91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3.xml"/><Relationship Id="rId13" Type="http://schemas.openxmlformats.org/officeDocument/2006/relationships/notesMaster" Target="notesMasters/notesMaster1.xml"/><Relationship Id="rId39" Type="http://schemas.openxmlformats.org/officeDocument/2006/relationships/slide" Target="slides/slide26.xml"/><Relationship Id="rId18" Type="http://schemas.openxmlformats.org/officeDocument/2006/relationships/slide" Target="slides/slide5.xml"/><Relationship Id="rId42" Type="http://customschemas.google.com/relationships/presentationmetadata" Target="metadata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2" Type="http://schemas.openxmlformats.org/officeDocument/2006/relationships/viewProps" Target="viewProps.xml"/><Relationship Id="rId29" Type="http://schemas.openxmlformats.org/officeDocument/2006/relationships/slide" Target="slides/slide16.xml"/><Relationship Id="rId16" Type="http://schemas.openxmlformats.org/officeDocument/2006/relationships/slide" Target="slides/slide3.xml"/><Relationship Id="rId40" Type="http://schemas.openxmlformats.org/officeDocument/2006/relationships/slide" Target="slides/slide27.xml"/><Relationship Id="rId24" Type="http://schemas.openxmlformats.org/officeDocument/2006/relationships/slide" Target="slides/slide11.xml"/><Relationship Id="rId1" Type="http://schemas.openxmlformats.org/officeDocument/2006/relationships/theme" Target="theme/theme7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5" Type="http://schemas.openxmlformats.org/officeDocument/2006/relationships/customXml" Target="../customXml/item3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2.xml"/><Relationship Id="rId36" Type="http://schemas.openxmlformats.org/officeDocument/2006/relationships/slide" Target="slides/slide23.xml"/><Relationship Id="rId31" Type="http://schemas.openxmlformats.org/officeDocument/2006/relationships/slide" Target="slides/slide18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6.xml"/><Relationship Id="rId44" Type="http://schemas.openxmlformats.org/officeDocument/2006/relationships/customXml" Target="../customXml/item2.xml"/><Relationship Id="rId22" Type="http://schemas.openxmlformats.org/officeDocument/2006/relationships/slide" Target="slides/slide9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14" Type="http://schemas.openxmlformats.org/officeDocument/2006/relationships/slide" Target="slides/slide1.xml"/><Relationship Id="rId43" Type="http://schemas.openxmlformats.org/officeDocument/2006/relationships/customXml" Target="../customXml/item1.xml"/><Relationship Id="rId8" Type="http://schemas.openxmlformats.org/officeDocument/2006/relationships/slideMaster" Target="slideMasters/slideMaster4.xml"/><Relationship Id="rId3" Type="http://schemas.openxmlformats.org/officeDocument/2006/relationships/presProps" Target="presProps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12" Type="http://schemas.openxmlformats.org/officeDocument/2006/relationships/slideMaster" Target="slideMasters/slideMaster8.xml"/><Relationship Id="rId17" Type="http://schemas.openxmlformats.org/officeDocument/2006/relationships/slide" Target="slides/slide4.xml"/><Relationship Id="rId38" Type="http://schemas.openxmlformats.org/officeDocument/2006/relationships/slide" Target="slides/slide25.xml"/><Relationship Id="rId20" Type="http://schemas.openxmlformats.org/officeDocument/2006/relationships/slide" Target="slides/slide7.xml"/><Relationship Id="rId41" Type="http://schemas.openxmlformats.org/officeDocument/2006/relationships/slide" Target="slides/slide2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5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" name="Google Shape;65;p34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9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9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3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1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0" name="Google Shape;100;p41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" name="Google Shape;101;p4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5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9" name="Google Shape;129;p45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7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5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47" name="Google Shape;147;p47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7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6.xml"/><Relationship Id="rId3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2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3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>
            <a:gsLst>
              <a:gs pos="0">
                <a:srgbClr val="007897"/>
              </a:gs>
              <a:gs pos="55000">
                <a:srgbClr val="4ABBE0"/>
              </a:gs>
              <a:gs pos="100000">
                <a:srgbClr val="007897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oogle Shape;7;p29"/>
          <p:cNvGrpSpPr/>
          <p:nvPr/>
        </p:nvGrpSpPr>
        <p:grpSpPr>
          <a:xfrm>
            <a:off x="-12192" y="4953000"/>
            <a:ext cx="9162288" cy="1911350"/>
            <a:chOff x="-12783" y="4832896"/>
            <a:chExt cx="9162879" cy="2032192"/>
          </a:xfrm>
        </p:grpSpPr>
        <p:sp>
          <p:nvSpPr>
            <p:cNvPr id="8" name="Google Shape;8;p29"/>
            <p:cNvSpPr/>
            <p:nvPr/>
          </p:nvSpPr>
          <p:spPr>
            <a:xfrm>
              <a:off x="1687032" y="4832896"/>
              <a:ext cx="7456968" cy="51817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4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29"/>
            <p:cNvSpPr/>
            <p:nvPr/>
          </p:nvSpPr>
          <p:spPr>
            <a:xfrm>
              <a:off x="35926" y="5135025"/>
              <a:ext cx="9108074" cy="838869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29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pic>
          <p:nvPicPr>
            <p:cNvPr id="11" name="Google Shape;11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83" y="4875025"/>
              <a:ext cx="9162879" cy="855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" name="Google Shape;12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ucida Sans"/>
              <a:buNone/>
              <a:defRPr b="0" i="0" sz="1000" u="none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1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1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7" name="Google Shape;27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57" name="Google Shape;57;p33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8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8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74" name="Google Shape;7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8"/>
          <p:cNvSpPr/>
          <p:nvPr/>
        </p:nvSpPr>
        <p:spPr>
          <a:xfrm>
            <a:off x="3636962" y="3005137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8"/>
          <p:cNvSpPr/>
          <p:nvPr/>
        </p:nvSpPr>
        <p:spPr>
          <a:xfrm>
            <a:off x="3449637" y="3005137"/>
            <a:ext cx="18415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79" name="Google Shape;79;p3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3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3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0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0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0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2" name="Google Shape;9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4" name="Google Shape;94;p40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5" name="Google Shape;95;p4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4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4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2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2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2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9" name="Google Shape;1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1" name="Google Shape;111;p42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2" name="Google Shape;112;p4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4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4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2" name="Google Shape;122;p44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3" name="Google Shape;123;p4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4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4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ucida Sans"/>
              <a:buNone/>
              <a:defRPr b="0" i="0" sz="10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6"/>
          <p:cNvSpPr/>
          <p:nvPr/>
        </p:nvSpPr>
        <p:spPr>
          <a:xfrm>
            <a:off x="715962" y="5002212"/>
            <a:ext cx="3802062" cy="1443037"/>
          </a:xfrm>
          <a:custGeom>
            <a:rect b="b" l="l" r="r" t="t"/>
            <a:pathLst>
              <a:path extrusionOk="0" h="528" w="576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FCBDC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6"/>
          <p:cNvSpPr/>
          <p:nvPr/>
        </p:nvSpPr>
        <p:spPr>
          <a:xfrm>
            <a:off x="-53975" y="5784850"/>
            <a:ext cx="3802062" cy="838200"/>
          </a:xfrm>
          <a:custGeom>
            <a:rect b="b" l="l" r="r" t="t"/>
            <a:pathLst>
              <a:path extrusionOk="0" h="528" w="576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6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37" name="Google Shape;13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2106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6"/>
          <p:cNvSpPr/>
          <p:nvPr/>
        </p:nvSpPr>
        <p:spPr>
          <a:xfrm>
            <a:off x="8664575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6"/>
          <p:cNvSpPr/>
          <p:nvPr/>
        </p:nvSpPr>
        <p:spPr>
          <a:xfrm>
            <a:off x="8477250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1" name="Google Shape;141;p46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556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2" name="Google Shape;142;p4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4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4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ucida Sans"/>
              <a:buNone/>
              <a:defRPr b="0" i="0" sz="1000" u="non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visualcplus.blogspot.com/2006/03/mathh.html" TargetMode="External"/><Relationship Id="rId4" Type="http://schemas.openxmlformats.org/officeDocument/2006/relationships/hyperlink" Target="http://visualcplus.blogspot.com/2006/03/mathh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 txBox="1"/>
          <p:nvPr>
            <p:ph idx="4294967295"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Aula  - Operadores, Expressões e Funções Matemáticas</a:t>
            </a:r>
            <a:endParaRPr/>
          </a:p>
        </p:txBody>
      </p:sp>
      <p:sp>
        <p:nvSpPr>
          <p:cNvPr id="157" name="Google Shape;157;p1"/>
          <p:cNvSpPr txBox="1"/>
          <p:nvPr>
            <p:ph idx="1" type="subTitle"/>
          </p:nvPr>
        </p:nvSpPr>
        <p:spPr>
          <a:xfrm>
            <a:off x="685800" y="3611562"/>
            <a:ext cx="77724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36"/>
              <a:buNone/>
            </a:pPr>
            <a:r>
              <a:rPr lang="en-US"/>
              <a:t>A</a:t>
            </a:r>
            <a:r>
              <a:rPr b="0" i="0" lang="en-US" sz="2700" u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meliara Freire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36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Toda linguagem de programação, existem operadores que nos permitem armazenar, modificar, comparar e avaliar dados no computador.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Veremos três tipos de operadores: </a:t>
            </a:r>
            <a:endParaRPr/>
          </a:p>
          <a:p>
            <a:pPr indent="-228599" lvl="1" marL="6207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Aritméticos, Relacionais e Lógicos.</a:t>
            </a:r>
            <a:endParaRPr/>
          </a:p>
        </p:txBody>
      </p:sp>
      <p:sp>
        <p:nvSpPr>
          <p:cNvPr id="163" name="Google Shape;163;p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Básico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Usamos os operadores aritméticos quando precisamos executar operações aritméticas (matemáticas) sobre os nossos dados (variáveis).</a:t>
            </a:r>
            <a:endParaRPr/>
          </a:p>
        </p:txBody>
      </p:sp>
      <p:sp>
        <p:nvSpPr>
          <p:cNvPr id="169" name="Google Shape;169;p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Aritméticos</a:t>
            </a:r>
            <a:endParaRPr/>
          </a:p>
        </p:txBody>
      </p:sp>
      <p:graphicFrame>
        <p:nvGraphicFramePr>
          <p:cNvPr id="170" name="Google Shape;170;p3"/>
          <p:cNvGraphicFramePr/>
          <p:nvPr/>
        </p:nvGraphicFramePr>
        <p:xfrm>
          <a:off x="1524000" y="294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3346450"/>
                <a:gridCol w="334485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Descrição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Adição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-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Subtração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*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Multiplicação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/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Divisão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%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Retorna o resto da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divisão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inteira de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 por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 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Parênteses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6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Vamos dar uma atenção especial aos operadores da divisão(/) e resto(%). </a:t>
            </a:r>
            <a:endParaRPr/>
          </a:p>
          <a:p>
            <a:pPr indent="-255586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 resultado de uma divisão, em C, depende dos tipos dos dados que estão sendo divididos. </a:t>
            </a:r>
            <a:endParaRPr/>
          </a:p>
          <a:p>
            <a:pPr indent="-255586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64"/>
              <a:buFont typeface="Noto Sans Symbols"/>
              <a:buChar char="🞂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tabela abaixo apresenta o resultado da operação de divisão, de acordo com os tipos de dados do numerador e do denominador.</a:t>
            </a:r>
            <a:endParaRPr/>
          </a:p>
        </p:txBody>
      </p:sp>
      <p:sp>
        <p:nvSpPr>
          <p:cNvPr id="176" name="Google Shape;176;p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Aritméticos</a:t>
            </a:r>
            <a:endParaRPr/>
          </a:p>
        </p:txBody>
      </p:sp>
      <p:graphicFrame>
        <p:nvGraphicFramePr>
          <p:cNvPr id="177" name="Google Shape;177;p4"/>
          <p:cNvGraphicFramePr/>
          <p:nvPr/>
        </p:nvGraphicFramePr>
        <p:xfrm>
          <a:off x="1690687" y="4217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3048000"/>
                <a:gridCol w="3048000"/>
              </a:tblGrid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numerador / denominador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Resultado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inteiro / inteiro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inteiro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inteiro/ real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real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real / inteiro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real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real/real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real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Quando dois números inteiros são divididos, o resultado é a parte inteira do quociente da divisão.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Quando pelo menos um dos elementos (numerador e/ou denominador) é real, o resultado é um número real.</a:t>
            </a:r>
            <a:endParaRPr/>
          </a:p>
        </p:txBody>
      </p:sp>
      <p:sp>
        <p:nvSpPr>
          <p:cNvPr id="183" name="Google Shape;183;p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Aritméticos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3000375" y="4286250"/>
            <a:ext cx="5715000" cy="2000250"/>
          </a:xfrm>
          <a:prstGeom prst="rect">
            <a:avLst/>
          </a:prstGeom>
          <a:solidFill>
            <a:srgbClr val="FFFF00"/>
          </a:solidFill>
          <a:ln cap="flat" cmpd="thickThin" w="550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Lucida Sans"/>
              <a:buNone/>
            </a:pPr>
            <a:r>
              <a:rPr b="1" i="0" lang="en-US" sz="1800" u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O operador do resto (%) só pode ser usado quando as variáveis envolvidas são do tipo inteiro. Não poderemos usar tal operador para obter resto de divisão de números reais. Outra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Lucida Sans"/>
              <a:buNone/>
            </a:pPr>
            <a:r>
              <a:rPr b="1" i="0" lang="en-US" sz="1800" u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coisa: o operador % não tem nada haver com percentagem,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Lucida Sans"/>
              <a:buNone/>
            </a:pPr>
            <a:r>
              <a:rPr b="1" i="0" lang="en-US" sz="1800" u="non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certo?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6" lvl="0" marL="365125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28"/>
              <a:buFont typeface="Noto Sans Symbols"/>
              <a:buChar char="🞂"/>
            </a:pPr>
            <a:r>
              <a:rPr b="1" i="0" lang="en-US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Prioridade dos Operadores</a:t>
            </a:r>
            <a:endParaRPr/>
          </a:p>
          <a:p>
            <a:pPr indent="-228599" lvl="1" marL="620712" marR="0" rtl="0" algn="just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Verdana"/>
              <a:buChar char="◦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prioridade que o operador aritmético tem sob o outro é que vai determinar como a expressão será resolvida.</a:t>
            </a:r>
            <a:endParaRPr/>
          </a:p>
          <a:p>
            <a:pPr indent="-228599" lvl="1" marL="620712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Verdana"/>
              <a:buChar char="◦"/>
            </a:pPr>
            <a:r>
              <a:rPr b="0" i="0" lang="en-US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Na matemática, quando montamos uma expressão, usamos parênteses, colchetes e chaves. Nas linguagens de programação, nós só temos os parênteses.</a:t>
            </a:r>
            <a:endParaRPr/>
          </a:p>
          <a:p>
            <a:pPr indent="-228599" lvl="1" marL="620712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Verdana"/>
              <a:buChar char="◦"/>
            </a:pPr>
            <a:r>
              <a:rPr b="0" i="0" lang="en-US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parênteses têm um papel importante nas expressões e possibilitam que a ordem das operações seja alterada. </a:t>
            </a:r>
            <a:endParaRPr/>
          </a:p>
          <a:p>
            <a:pPr indent="-255587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92"/>
              <a:buFont typeface="Noto Sans Symbols"/>
              <a:buChar char="🞂"/>
            </a:pPr>
            <a:r>
              <a:rPr b="0" i="0" lang="en-US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Expressões entre parênteses são calculadas primeiro, portanto eles fornecem o maior grau de prioridade às expressões que envolvem.</a:t>
            </a: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Os parênteses têm um papel importante nas expressões e</a:t>
            </a:r>
            <a:endParaRPr/>
          </a:p>
          <a:p>
            <a:pPr indent="-255586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possibilitam que a ordem das operações seja alterada. Expressões</a:t>
            </a:r>
            <a:endParaRPr/>
          </a:p>
          <a:p>
            <a:pPr indent="-255586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entre parênteses são calculadas primeiro, portanto eles fornecem</a:t>
            </a:r>
            <a:endParaRPr/>
          </a:p>
          <a:p>
            <a:pPr indent="-255586" lvl="0" marL="365125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 maior grau de prioridade às expressões que envolvem</a:t>
            </a:r>
            <a:endParaRPr/>
          </a:p>
        </p:txBody>
      </p:sp>
      <p:sp>
        <p:nvSpPr>
          <p:cNvPr id="190" name="Google Shape;190;p6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Aritméticos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1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Prioridade dos Operadores</a:t>
            </a:r>
            <a:endParaRPr/>
          </a:p>
        </p:txBody>
      </p:sp>
      <p:sp>
        <p:nvSpPr>
          <p:cNvPr id="196" name="Google Shape;196;p7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Aritméticos</a:t>
            </a:r>
            <a:endParaRPr/>
          </a:p>
        </p:txBody>
      </p:sp>
      <p:graphicFrame>
        <p:nvGraphicFramePr>
          <p:cNvPr id="197" name="Google Shape;197;p7"/>
          <p:cNvGraphicFramePr/>
          <p:nvPr/>
        </p:nvGraphicFramePr>
        <p:xfrm>
          <a:off x="214312" y="2643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4394200"/>
                <a:gridCol w="4392600"/>
              </a:tblGrid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Prioridade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1º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Operações embutidas em parênteses “mais internos”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2º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% (resto) e/ou * (multiplicação) e/ou / (divisão)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3º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(adição) e/ou – (subtração)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1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Prioridade de Operadores 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int X, Y, Z, W, A, B, C, D;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X = 19;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Y = 3;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Z = 4;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W = 2;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= X + Y * Z;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 = (X + Y) * Z;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 = X – Y * Z / W;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 = (X-Y) * (Z/W);</a:t>
            </a:r>
            <a:endParaRPr/>
          </a:p>
        </p:txBody>
      </p:sp>
      <p:sp>
        <p:nvSpPr>
          <p:cNvPr id="203" name="Google Shape;203;p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Aritméticos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São utilizados para comparar valores de variáveis ou expressões aritméticas.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Uma expressão aritmética tem como resultado um valor numérico.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 caso de uma expressão relacional, o resultado será sempre um valor lógico: “Verdade” ou “Falso”.</a:t>
            </a:r>
            <a:endParaRPr/>
          </a:p>
        </p:txBody>
      </p:sp>
      <p:sp>
        <p:nvSpPr>
          <p:cNvPr id="209" name="Google Shape;209;p9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Relacionais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" name="Google Shape;214;p10"/>
          <p:cNvGraphicFramePr/>
          <p:nvPr/>
        </p:nvGraphicFramePr>
        <p:xfrm>
          <a:off x="457200" y="1481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4114800"/>
                <a:gridCol w="41148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Descrição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==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Igualdade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!=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Diferença (≠)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&lt;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Menor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&gt;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Maior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&lt;=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Menor ou Igual (</a:t>
                      </a:r>
                      <a:r>
                        <a:rPr b="0" i="1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≤)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&gt;=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Maior ou Igual (</a:t>
                      </a:r>
                      <a:r>
                        <a:rPr b="0" i="1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≥)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p10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Relacionais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11"/>
          <p:cNvGraphicFramePr/>
          <p:nvPr/>
        </p:nvGraphicFramePr>
        <p:xfrm>
          <a:off x="457200" y="1481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8229600"/>
              </a:tblGrid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Sintaxe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18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Variavel operador Valor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Variável1 operador variável2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Variavel operador Expressão Aritmética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Expressão Aritmética operador Expressão Aritmética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1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Relacionais</a:t>
            </a:r>
            <a:endParaRPr/>
          </a:p>
        </p:txBody>
      </p:sp>
      <p:graphicFrame>
        <p:nvGraphicFramePr>
          <p:cNvPr id="222" name="Google Shape;222;p11"/>
          <p:cNvGraphicFramePr/>
          <p:nvPr/>
        </p:nvGraphicFramePr>
        <p:xfrm>
          <a:off x="1524000" y="3473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6096000"/>
              </a:tblGrid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Expressões relacionais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189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X == 10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X &gt; 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X &lt; Y + Z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X * Y &gt; Z / W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587" lvl="0" marL="36512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Servem para interligar duas ou mais expressões relacionais. 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Uma expressão lógica representa a união de expressões relacionais, permitindo que os resultados de várias expressões relacionais sejam transformados em um único resultado lógico (</a:t>
            </a:r>
            <a:r>
              <a:rPr b="0" i="1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verdade ou falso).</a:t>
            </a:r>
            <a:endParaRPr/>
          </a:p>
          <a:p>
            <a:pPr indent="-255587" lvl="0" marL="365125" marR="0" rtl="0" algn="just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operadores lógicos são: </a:t>
            </a:r>
            <a:endParaRPr/>
          </a:p>
          <a:p>
            <a:pPr indent="-228599" lvl="1" marL="620712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</a:t>
            </a:r>
            <a:endParaRPr/>
          </a:p>
          <a:p>
            <a:pPr indent="-228599" lvl="1" marL="620712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OU </a:t>
            </a:r>
            <a:endParaRPr/>
          </a:p>
          <a:p>
            <a:pPr indent="-228599" lvl="1" marL="620712" marR="0" rtl="0" algn="just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</a:pPr>
            <a:r>
              <a:rPr b="0" i="0" lang="en-US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NÃO</a:t>
            </a:r>
            <a:endParaRPr/>
          </a:p>
        </p:txBody>
      </p:sp>
      <p:sp>
        <p:nvSpPr>
          <p:cNvPr id="228" name="Google Shape;228;p1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Lógicos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13"/>
          <p:cNvGraphicFramePr/>
          <p:nvPr/>
        </p:nvGraphicFramePr>
        <p:xfrm>
          <a:off x="457200" y="18748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4114800"/>
                <a:gridCol w="41148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 Lógico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 Lógico em C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&amp;&amp;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OU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||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NÃO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!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1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Lógicos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Exemplos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(X &gt; 10) &amp;&amp; (Y &lt; 30) || (Z == 1)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(A == 2) || (B &lt;&gt; C) &amp;&amp; (D &lt; 1) || (E &gt; 10)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!(A == 1) || (B &lt;= C + B)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(X + Y &lt; Z + W) &amp;&amp; (A &lt; 3 + D) || (F &lt; 5)</a:t>
            </a:r>
            <a:endParaRPr/>
          </a:p>
        </p:txBody>
      </p:sp>
      <p:sp>
        <p:nvSpPr>
          <p:cNvPr id="240" name="Google Shape;240;p1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Lógicos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15"/>
          <p:cNvGraphicFramePr/>
          <p:nvPr/>
        </p:nvGraphicFramePr>
        <p:xfrm>
          <a:off x="457200" y="1481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4114800"/>
                <a:gridCol w="41148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Prioridade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1º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Operações embutidas em parênteses “mais internos”;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639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2º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Resto e/ou multiplicação e/ou divisão;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3º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Adição e/ou Subtração;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4º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Operadores Relacionais;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5º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Operadores Lógicos.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46;p1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Prioridade de operadores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6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linguagem C oferece um conjunto de operadores que é uma combinação de operador de atribuição e operador aritmético, são os operadores aritméticos de atribuição. </a:t>
            </a:r>
            <a:endParaRPr/>
          </a:p>
          <a:p>
            <a:pPr indent="-255586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Eles são utilizados para representar de maneira reduzida uma operação aritmética, seguida de uma atribuição.</a:t>
            </a:r>
            <a:endParaRPr/>
          </a:p>
        </p:txBody>
      </p:sp>
      <p:sp>
        <p:nvSpPr>
          <p:cNvPr id="252" name="Google Shape;252;p16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Aritméticos de Atribuição</a:t>
            </a:r>
            <a:endParaRPr/>
          </a:p>
        </p:txBody>
      </p:sp>
      <p:graphicFrame>
        <p:nvGraphicFramePr>
          <p:cNvPr id="253" name="Google Shape;253;p16"/>
          <p:cNvGraphicFramePr/>
          <p:nvPr/>
        </p:nvGraphicFramePr>
        <p:xfrm>
          <a:off x="1285875" y="3357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2547925"/>
                <a:gridCol w="2547925"/>
                <a:gridCol w="254792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Exemplos de Uso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Descrição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X += 4;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Equivale a X = X + 4;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-=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Y -= X;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Equivale a Y = Y – X;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*=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Z *= W;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Equivale a Z = Z * W;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/=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K /= 7;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Equivale a K = K / 7;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%=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L %= M;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Equivale a L = L % M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Os operadores ++ e -- são utilizados após o nome de uma variável e servem para incrementar (++) ou decrementar (--) uma unidade da variável, ou seja, somar 1 ou subtrair 1 do valor da variável.</a:t>
            </a:r>
            <a:endParaRPr/>
          </a:p>
        </p:txBody>
      </p:sp>
      <p:sp>
        <p:nvSpPr>
          <p:cNvPr id="259" name="Google Shape;259;p17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Operadores ++ e --</a:t>
            </a:r>
            <a:endParaRPr/>
          </a:p>
        </p:txBody>
      </p:sp>
      <p:graphicFrame>
        <p:nvGraphicFramePr>
          <p:cNvPr id="260" name="Google Shape;260;p17"/>
          <p:cNvGraphicFramePr/>
          <p:nvPr/>
        </p:nvGraphicFramePr>
        <p:xfrm>
          <a:off x="500062" y="34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2714625"/>
                <a:gridCol w="2714625"/>
                <a:gridCol w="271462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Operador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Exemplos de Uso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Descrição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69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++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X++;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Equivale a X = X + 1;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--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Y--;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Equivale a Y = Y -- 1;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Quando usamos operadores aritméticos, temos que lembrar que o resultado da expressão depende do tipo das variáveis envolvidas.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É que alguns operadores só podem ser usados por um tipo de dado.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É usada em uma expressão aritmética e é feita da seguinte forma: </a:t>
            </a:r>
            <a:endParaRPr/>
          </a:p>
          <a:p>
            <a:pPr indent="-228599" lvl="1" marL="6207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◦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Antes da variável, colocamos entre parênteses, o tipo que queremos que a variável seja nesta expressão aritmética.</a:t>
            </a:r>
            <a:endParaRPr/>
          </a:p>
          <a:p>
            <a:pPr indent="-228599" lvl="1" marL="620712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Verdana"/>
              <a:buChar char="◦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É importante salientar que a conversão de tipo é feita com o dado armazenado em uma variável, mas a variável continua tendo o seu tipo original.</a:t>
            </a:r>
            <a:endParaRPr/>
          </a:p>
        </p:txBody>
      </p:sp>
      <p:sp>
        <p:nvSpPr>
          <p:cNvPr id="266" name="Google Shape;266;p1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Conversão de tipo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int A,B,C;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float X,Y;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A=3;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B=5;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X=6.5;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 = (int)X % B;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0" lang="en-US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Y = (float)A/B;</a:t>
            </a:r>
            <a:endParaRPr/>
          </a:p>
        </p:txBody>
      </p:sp>
      <p:sp>
        <p:nvSpPr>
          <p:cNvPr id="272" name="Google Shape;272;p19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Conversão de tipo - Exemplo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Nas linhas 1 e 2, temos as declarações de cinco variáveis.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Nas linhas 3, 4, e 5 foram atribuídos valores as variáveis A, B e X.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Na linha 6, precisamos executar uma operação para obter o resto da divisão entre a variável X (que é do tipo </a:t>
            </a:r>
            <a:r>
              <a:rPr b="0" i="1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float) e a variável B (que é do tipo int). Esta operação não seria possível, já que o operador do resto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não aceita números reais na expressão. 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 entanto, esta operação se torna possível, se fizermos a conversão de tipo da variável X. Queremos que, nesta expressão, o conteúdo de X seja um inteiro.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Para isso, colocamos (</a:t>
            </a:r>
            <a:r>
              <a:rPr b="0" i="1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int) na frente da variável X, como mostra a linha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6 do exemplo. Como a variável X tem 6.5 armazenado, nesta conta, a parte fracionária será desprezada e a conta será feita considerando que X é 6. Assim, 6 % 5 = 1. Então, 1 é o valor que será atribuído a variável C.</a:t>
            </a:r>
            <a:endParaRPr/>
          </a:p>
        </p:txBody>
      </p:sp>
      <p:sp>
        <p:nvSpPr>
          <p:cNvPr id="278" name="Google Shape;278;p20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Conversão de tipo - Exemplo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6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 linguagem de programação C possui uma biblioteca que agrupa um conjunto de funções matemáticas. É a biblioteca </a:t>
            </a:r>
            <a:r>
              <a:rPr b="1" i="1" lang="en-US" sz="2200" u="none" cap="none" strike="noStrik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math.h</a:t>
            </a:r>
            <a:r>
              <a:rPr b="0" i="1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. </a:t>
            </a:r>
            <a:endParaRPr/>
          </a:p>
          <a:p>
            <a:pPr indent="-255586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0" i="1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Nesta </a:t>
            </a: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seção, vamos ver quatro funções matemáticas, da biblioteca </a:t>
            </a:r>
            <a:r>
              <a:rPr b="0" i="1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math.h, </a:t>
            </a: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que utilizaremos com mais frequência nos nossos programas. </a:t>
            </a:r>
            <a:endParaRPr/>
          </a:p>
          <a:p>
            <a:pPr indent="-255586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1" i="0" lang="en-US" sz="2200" u="none" cap="none" strike="noStrike">
                <a:solidFill>
                  <a:srgbClr val="FF0000"/>
                </a:solidFill>
                <a:latin typeface="Lucida Sans"/>
                <a:ea typeface="Lucida Sans"/>
                <a:cs typeface="Lucida Sans"/>
                <a:sym typeface="Lucida Sans"/>
              </a:rPr>
              <a:t>São as funções para encontrar a raiz quadrada de um número, potência (elevar um número a uma potência) e duas funções de arredondamento. </a:t>
            </a:r>
            <a:endParaRPr/>
          </a:p>
          <a:p>
            <a:pPr indent="-255586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Esta biblioteca possui outras funções, mas estas são as mais utilizadas nos nossos programas.</a:t>
            </a:r>
            <a:endParaRPr/>
          </a:p>
          <a:p>
            <a:pPr indent="-255586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96"/>
              <a:buFont typeface="Noto Sans Symbols"/>
              <a:buChar char="🞂"/>
            </a:pP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As funções matemáticas precisam receber um ou vários </a:t>
            </a:r>
            <a:r>
              <a:rPr b="1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parâmetros </a:t>
            </a:r>
            <a:r>
              <a:rPr b="0" i="0" lang="en-US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e nos retornam um resultado.</a:t>
            </a:r>
            <a:endParaRPr/>
          </a:p>
        </p:txBody>
      </p:sp>
      <p:sp>
        <p:nvSpPr>
          <p:cNvPr id="284" name="Google Shape;284;p2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Funções Matemáticas (biblioteca math.h)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22"/>
          <p:cNvGraphicFramePr/>
          <p:nvPr/>
        </p:nvGraphicFramePr>
        <p:xfrm>
          <a:off x="285750" y="1481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1552575"/>
                <a:gridCol w="4733925"/>
                <a:gridCol w="2400300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Função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Descrição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Lucida Sans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Exemplos de uso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286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sqrt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 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Função para encontrar a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raiz quadrada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 um número.  A função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sqrt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precisa receber como parâmetro, o número que desejamos encontrar a sua raiz quadrada. O resultado desta função é um número real. Como uma função retorna um resultado, devemos atribuí-lo a uma variável.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 = sqrt(16);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R = sqrt(A);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2559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pow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Função para encontrar a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potência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 um número, ou seja, eleva um número a um expoente: A</a:t>
                      </a:r>
                      <a:r>
                        <a:rPr b="0" i="1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B. Assim, se A = 4 e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B = 3, 4 elevado a 3 é 64. A função </a:t>
                      </a: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pow 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irá receber dois parâmetros. O primeiro é a base (neste exemplo é o A) e o segundo é o expoente (neste caso é o B). Esta função retorna um número real como resultado.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 = pow(3,4);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ucida San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Lucida Sans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 = pow(A, 3);</a:t>
                      </a:r>
                      <a:endParaRPr/>
                    </a:p>
                  </a:txBody>
                  <a:tcPr marT="45700" marB="45700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2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Funções Matemáticas (biblioteca math.h)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23"/>
          <p:cNvGraphicFramePr/>
          <p:nvPr/>
        </p:nvGraphicFramePr>
        <p:xfrm>
          <a:off x="142875" y="1481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{56512278-694E-4A24-94C4-7F48ACBEB917}</a:tableStyleId>
              </a:tblPr>
              <a:tblGrid>
                <a:gridCol w="1185850"/>
                <a:gridCol w="5370500"/>
                <a:gridCol w="230187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Lucida San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Função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Lucida San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Descrição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Lucida Sans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Exemplos de uso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79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ucida San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ceil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ucida San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 função </a:t>
                      </a: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ceil serve para arredondar 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um número real. Esta função arredonda o número para cima. Assim, ela retornará como resultado: o primeiro número inteiro maior que o número que desejamos arredondar. Por exemplo: se x = 1.34, e desejamos arredondar com a função ceil, o resultado será 2.0. Ou seja, o primeiro número inteiro acima de 1.34. Apesar do arredondamento, esta função retorna um número real como resultado.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ucida San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Z = ceil(1.67);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ucida San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ucida San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Z = ceil(Z);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1798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ucida San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floor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ucida San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A função </a:t>
                      </a: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floor </a:t>
                      </a: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serve para arredondar um número real. Esta função arredonda o número para baixo. Assim, ela retornará como resultado: o primeiro número inteiro menor que o número que desejamos arredondar. Por exemplo: se x = 1.34, e desejamos arredondar com a função floor, o resultado será 1.0. Ou seja, o primeiro número inteiro abaixo de 1.34. Apesar do arredondamento, esta função retorna um número real como resultado.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ucida San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Z = floor(1.67);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Lucida Sans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000000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Z = floor(Z);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296" name="Google Shape;296;p2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Funções Matemáticas (biblioteca math.h)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4"/>
          <p:cNvSpPr txBox="1"/>
          <p:nvPr>
            <p:ph idx="4294967295"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Exemplo: Ler o nome e duas notas</a:t>
            </a:r>
            <a:b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do usuário e imprimir a média.</a:t>
            </a:r>
            <a:endParaRPr/>
          </a:p>
        </p:txBody>
      </p:sp>
      <p:sp>
        <p:nvSpPr>
          <p:cNvPr id="302" name="Google Shape;302;p24"/>
          <p:cNvSpPr txBox="1"/>
          <p:nvPr>
            <p:ph idx="1" type="body"/>
          </p:nvPr>
        </p:nvSpPr>
        <p:spPr>
          <a:xfrm>
            <a:off x="0" y="1444625"/>
            <a:ext cx="4497387" cy="3941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#include &lt;stdio.h&gt;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//ler o nome e as duas notas do aluno e imprimir a media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main()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{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char nome[20];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float nota1, nota2, media;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printf(“Calcular a media do aluno\n\n”);</a:t>
            </a:r>
            <a:endParaRPr/>
          </a:p>
          <a:p>
            <a:pPr indent="-151955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03" name="Google Shape;303;p24"/>
          <p:cNvSpPr txBox="1"/>
          <p:nvPr>
            <p:ph idx="2" type="body"/>
          </p:nvPr>
        </p:nvSpPr>
        <p:spPr>
          <a:xfrm>
            <a:off x="4645025" y="1444625"/>
            <a:ext cx="4498975" cy="3941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printf(“Seu nome: “);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fflush(stdin);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gets(nome);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printf(“Nota 1: “);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scanf(“%f”, &amp;nota1);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printf(“Nota 2: “);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scanf(“%f”, &amp;nota2);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media = (nota1 + nota2)/2;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printf(“\n\n%s, sua media = %.2f”, nome,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media);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getche();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rPr b="0" i="0" lang="en-US" sz="24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}</a:t>
            </a:r>
            <a:endParaRPr/>
          </a:p>
          <a:p>
            <a:pPr indent="-151955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32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Como iremos ler o nome do aluno, precisamos incluir a biblioteca stdio.h onde estão os comandos </a:t>
            </a:r>
            <a:r>
              <a:rPr b="0" i="1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fflush e gets.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2: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Comentário informando o que o programa faz.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3: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início do programa principal, que é definido pelo: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“main()”.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4: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um abre chaves, que irá delimitar o corpo do programa principal.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Linhas 5 e 6: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declarações das quatro variáveis do programa: nome, nota1, nota2 e media.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7: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um </a:t>
            </a:r>
            <a:r>
              <a:rPr b="0" i="1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 que serve para colocar, no início da tela, o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título do que o programa faz.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Noto Sans Symbols"/>
              <a:buChar char="🞂"/>
            </a:pPr>
            <a:r>
              <a:rPr b="1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8: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 para que o usuário saiba que precisa fornecer seu nome.</a:t>
            </a:r>
            <a:endParaRPr/>
          </a:p>
        </p:txBody>
      </p:sp>
      <p:sp>
        <p:nvSpPr>
          <p:cNvPr id="309" name="Google Shape;309;p2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Exemplo: Comentários sobre cada linha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9: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comando </a:t>
            </a:r>
            <a:r>
              <a:rPr b="0" i="1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fflush, que DEVE sempre vir antes do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comando </a:t>
            </a:r>
            <a:r>
              <a:rPr b="0" i="1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gets. Utilizado para limpar o buffer de entrada de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dados.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10: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gets que efetuará a leitura do nome do usuário.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11: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 para que o usuário saiba que precisa fornecer a primeira nota.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12: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scanf que lê a primeira nota e armazena na variável nota1.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13: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 para que o usuário saiba que precisa fornecer a segunda nota.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14: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scanf que lê a segunda nota e armazena na variável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nota2.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15: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cálculo da média do aluno. Notem que a soma das nota1 e nota2 aparece entre parênteses. </a:t>
            </a:r>
            <a:r>
              <a:rPr b="0" i="1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Devemos lembrar que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o operador da divisão tem prioridade maior que o operador da soma. Assim, para que a soma das notas seja feita primeiro, ela deve vir entre parênteses. Não esqueçam deste detalhe!</a:t>
            </a:r>
            <a:endParaRPr/>
          </a:p>
        </p:txBody>
      </p:sp>
      <p:sp>
        <p:nvSpPr>
          <p:cNvPr id="315" name="Google Shape;315;p26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Exemplo: Comentários sobre cada linha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16: </a:t>
            </a:r>
            <a:r>
              <a:rPr b="1" i="1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printf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que apresenta a média do aluno. Notem que na mensagem, também será escrito o nome do aluno. A média do aluno será apresentada com duas casas decimais (%.2f)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17: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comando</a:t>
            </a: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1" i="1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getche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que faz com que a tela de execução do programa fique aberta, e assim podemos ver o resultado do programa. Nesta linha também poderíamos usar o </a:t>
            </a:r>
            <a:r>
              <a:rPr b="1" i="1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system(“pause”).</a:t>
            </a:r>
            <a:endParaRPr/>
          </a:p>
          <a:p>
            <a:pPr indent="-255587" lvl="0" marL="36512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Char char="🞂"/>
            </a:pPr>
            <a:r>
              <a:rPr b="1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Linha 18: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fecha chaves, indicando o final do programa principal.</a:t>
            </a:r>
            <a:endParaRPr/>
          </a:p>
          <a:p>
            <a:pPr indent="-177864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24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21" name="Google Shape;321;p27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Exemplo: Comentários sobre cada linha</a:t>
            </a:r>
            <a:endParaRPr/>
          </a:p>
        </p:txBody>
      </p:sp>
      <p:pic>
        <p:nvPicPr>
          <p:cNvPr id="322" name="Google Shape;32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3375" y="3632200"/>
            <a:ext cx="4152900" cy="322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8"/>
          <p:cNvSpPr txBox="1"/>
          <p:nvPr>
            <p:ph idx="1" type="body"/>
          </p:nvPr>
        </p:nvSpPr>
        <p:spPr>
          <a:xfrm>
            <a:off x="457200" y="1481137"/>
            <a:ext cx="8686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5587" lvl="0" marL="3651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</a:pP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Pesquisem na </a:t>
            </a:r>
            <a:r>
              <a:rPr b="0" i="1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Internet outra funções matemáticas disponíveis na </a:t>
            </a:r>
            <a:r>
              <a:rPr b="0" i="0" lang="en-US" sz="270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biblioteca math.h. Comecem a pesquisa pelo site:</a:t>
            </a:r>
            <a:endParaRPr/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t/>
            </a:r>
            <a:endParaRPr b="0" i="1" sz="2700" u="non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55587" lvl="0" marL="365125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rPr b="0" i="1" lang="en-US" sz="2700" u="sng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http://visualcplus.blogspot.com/2006/03/mathh.html</a:t>
            </a:r>
            <a:endParaRPr/>
          </a:p>
          <a:p>
            <a:pPr indent="-139001" lvl="0" marL="365125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None/>
            </a:pPr>
            <a:r>
              <a:t/>
            </a:r>
            <a:endParaRPr b="0" i="1" sz="2700" u="sng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  <p:sp>
        <p:nvSpPr>
          <p:cNvPr id="328" name="Google Shape;328;p2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Conheça mais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5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6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1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7_Concurso">
  <a:themeElements>
    <a:clrScheme name="Concurso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68EADED0FE1241A1A1B62123EB79AC" ma:contentTypeVersion="0" ma:contentTypeDescription="Crie um novo documento." ma:contentTypeScope="" ma:versionID="1aa02b7e67c5ee039342b84a3ddf657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8CA6BE-F38D-415D-89A5-3B34D42B2803}"/>
</file>

<file path=customXml/itemProps2.xml><?xml version="1.0" encoding="utf-8"?>
<ds:datastoreItem xmlns:ds="http://schemas.openxmlformats.org/officeDocument/2006/customXml" ds:itemID="{4AEBE087-BD9C-4CF9-AF73-1E53800508E9}"/>
</file>

<file path=customXml/itemProps3.xml><?xml version="1.0" encoding="utf-8"?>
<ds:datastoreItem xmlns:ds="http://schemas.openxmlformats.org/officeDocument/2006/customXml" ds:itemID="{7674C8C3-C269-4EEE-986E-1BC70AEE0D37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Ameliara</dc:creator>
  <dcterms:created xsi:type="dcterms:W3CDTF">2011-03-16T02:26:54Z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0x0101004868EADED0FE1241A1A1B62123EB79AC</vt:lpwstr>
  </property>
</Properties>
</file>