
<file path=[Content_Types].xml><?xml version="1.0" encoding="utf-8"?>
<Types xmlns="http://schemas.openxmlformats.org/package/2006/content-types">
  <Default Extension="jpg" ContentType="image/jpeg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0" r:id="rId6"/>
    <p:sldMasterId id="2147483655" r:id="rId7"/>
    <p:sldMasterId id="2147483657" r:id="rId8"/>
    <p:sldMasterId id="2147483659" r:id="rId9"/>
    <p:sldMasterId id="2147483661" r:id="rId10"/>
    <p:sldMasterId id="2147483663" r:id="rId11"/>
    <p:sldMasterId id="2147483665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hSxo6AqQZA776w9hKTO6pRgYXS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32C5C4-C9C0-4D98-A19E-5CD210F6DA82}">
  <a:tblStyle styleId="{6232C5C4-C9C0-4D98-A19E-5CD210F6DA8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3.xml"/><Relationship Id="rId13" Type="http://schemas.openxmlformats.org/officeDocument/2006/relationships/notesMaster" Target="notesMasters/notesMaster1.xml"/><Relationship Id="rId18" Type="http://schemas.openxmlformats.org/officeDocument/2006/relationships/slide" Target="slides/slide5.xml"/><Relationship Id="rId39" Type="http://schemas.openxmlformats.org/officeDocument/2006/relationships/customXml" Target="../customXml/item1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20" Type="http://schemas.openxmlformats.org/officeDocument/2006/relationships/slide" Target="slides/slide7.xml"/><Relationship Id="rId2" Type="http://schemas.openxmlformats.org/officeDocument/2006/relationships/viewProps" Target="viewProps.xml"/><Relationship Id="rId29" Type="http://schemas.openxmlformats.org/officeDocument/2006/relationships/slide" Target="slides/slide16.xml"/><Relationship Id="rId16" Type="http://schemas.openxmlformats.org/officeDocument/2006/relationships/slide" Target="slides/slide3.xml"/><Relationship Id="rId41" Type="http://schemas.openxmlformats.org/officeDocument/2006/relationships/customXml" Target="../customXml/item3.xml"/><Relationship Id="rId24" Type="http://schemas.openxmlformats.org/officeDocument/2006/relationships/slide" Target="slides/slide11.xml"/><Relationship Id="rId1" Type="http://schemas.openxmlformats.org/officeDocument/2006/relationships/theme" Target="theme/theme9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customXml" Target="../customXml/item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2.xml"/><Relationship Id="rId36" Type="http://schemas.openxmlformats.org/officeDocument/2006/relationships/slide" Target="slides/slide23.xml"/><Relationship Id="rId31" Type="http://schemas.openxmlformats.org/officeDocument/2006/relationships/slide" Target="slides/slide18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6.xml"/><Relationship Id="rId22" Type="http://schemas.openxmlformats.org/officeDocument/2006/relationships/slide" Target="slides/slide9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14" Type="http://schemas.openxmlformats.org/officeDocument/2006/relationships/slide" Target="slides/slide1.xml"/><Relationship Id="rId8" Type="http://schemas.openxmlformats.org/officeDocument/2006/relationships/slideMaster" Target="slideMasters/slideMaster4.xml"/><Relationship Id="rId3" Type="http://schemas.openxmlformats.org/officeDocument/2006/relationships/presProps" Target="presProps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12" Type="http://schemas.openxmlformats.org/officeDocument/2006/relationships/slideMaster" Target="slideMasters/slideMaster8.xml"/><Relationship Id="rId17" Type="http://schemas.openxmlformats.org/officeDocument/2006/relationships/slide" Target="slides/slide4.xml"/><Relationship Id="rId3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64008" algn="r"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25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/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" type="body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" type="body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0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1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1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3"/>
          <p:cNvSpPr txBox="1"/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cida Sans"/>
              <a:buNone/>
              <a:defRPr b="1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3"/>
          <p:cNvSpPr txBox="1"/>
          <p:nvPr>
            <p:ph idx="1" type="body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5"/>
          <p:cNvSpPr txBox="1"/>
          <p:nvPr>
            <p:ph idx="1" type="body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p35"/>
          <p:cNvSpPr txBox="1"/>
          <p:nvPr>
            <p:ph idx="2" type="body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6" name="Google Shape;86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7"/>
          <p:cNvSpPr txBox="1"/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7"/>
          <p:cNvSpPr txBox="1"/>
          <p:nvPr>
            <p:ph idx="1" type="body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9" name="Google Shape;99;p37"/>
          <p:cNvSpPr txBox="1"/>
          <p:nvPr>
            <p:ph idx="2" type="body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0" name="Google Shape;100;p37"/>
          <p:cNvSpPr txBox="1"/>
          <p:nvPr>
            <p:ph idx="3" type="body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spcBef>
                <a:spcPts val="40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1" name="Google Shape;101;p37"/>
          <p:cNvSpPr txBox="1"/>
          <p:nvPr>
            <p:ph idx="4" type="body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spcBef>
                <a:spcPts val="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2" name="Google Shape;102;p37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7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7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9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9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9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1"/>
          <p:cNvSpPr txBox="1"/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ucida Sans"/>
              <a:buNone/>
              <a:defRPr b="0" sz="25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1"/>
          <p:cNvSpPr txBox="1"/>
          <p:nvPr>
            <p:ph idx="1" type="body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9" name="Google Shape;129;p41"/>
          <p:cNvSpPr txBox="1"/>
          <p:nvPr>
            <p:ph idx="2" type="body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6776" lvl="0" marL="457200" algn="l">
              <a:spcBef>
                <a:spcPts val="400"/>
              </a:spcBef>
              <a:spcAft>
                <a:spcPts val="0"/>
              </a:spcAft>
              <a:buSzPts val="2176"/>
              <a:buChar char="🞂"/>
              <a:defRPr sz="3200"/>
            </a:lvl1pPr>
            <a:lvl2pPr indent="-406400" lvl="1" marL="914400" algn="l">
              <a:spcBef>
                <a:spcPts val="325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0" name="Google Shape;130;p41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1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1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3"/>
          <p:cNvSpPr txBox="1"/>
          <p:nvPr>
            <p:ph idx="1" type="body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18288" algn="r"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indent="-304800" lvl="1" marL="914400" algn="l">
              <a:spcBef>
                <a:spcPts val="325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47" name="Google Shape;147;p43"/>
          <p:cNvSpPr/>
          <p:nvPr>
            <p:ph idx="2" type="pic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3"/>
          <p:cNvSpPr txBox="1"/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Lucida Sans"/>
              <a:buNone/>
              <a:defRPr b="0" sz="30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3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3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3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9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7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<Relationship Id="rId5" Type="http://schemas.openxmlformats.org/officeDocument/2006/relationships/theme" Target="../theme/theme4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8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5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6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1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>
            <a:gsLst>
              <a:gs pos="0">
                <a:srgbClr val="007897"/>
              </a:gs>
              <a:gs pos="55000">
                <a:srgbClr val="4ABBE0"/>
              </a:gs>
              <a:gs pos="100000">
                <a:srgbClr val="007897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" name="Google Shape;7;p25"/>
          <p:cNvGrpSpPr/>
          <p:nvPr/>
        </p:nvGrpSpPr>
        <p:grpSpPr>
          <a:xfrm>
            <a:off x="-12192" y="4953000"/>
            <a:ext cx="9162288" cy="1911350"/>
            <a:chOff x="-12783" y="4832896"/>
            <a:chExt cx="9162879" cy="2032192"/>
          </a:xfrm>
        </p:grpSpPr>
        <p:sp>
          <p:nvSpPr>
            <p:cNvPr id="8" name="Google Shape;8;p25"/>
            <p:cNvSpPr/>
            <p:nvPr/>
          </p:nvSpPr>
          <p:spPr>
            <a:xfrm>
              <a:off x="1687032" y="4832896"/>
              <a:ext cx="7456968" cy="518176"/>
            </a:xfrm>
            <a:custGeom>
              <a:rect b="b" l="l" r="r" t="t"/>
              <a:pathLst>
                <a:path extrusionOk="0" h="367" w="469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FCBDC">
                <a:alpha val="4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p25"/>
            <p:cNvSpPr/>
            <p:nvPr/>
          </p:nvSpPr>
          <p:spPr>
            <a:xfrm>
              <a:off x="35926" y="5135025"/>
              <a:ext cx="9108074" cy="838869"/>
            </a:xfrm>
            <a:custGeom>
              <a:rect b="b" l="l" r="r" t="t"/>
              <a:pathLst>
                <a:path extrusionOk="0" h="528" w="576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25"/>
            <p:cNvSpPr/>
            <p:nvPr/>
          </p:nvSpPr>
          <p:spPr>
            <a:xfrm>
              <a:off x="0" y="4883888"/>
              <a:ext cx="9144000" cy="1981200"/>
            </a:xfrm>
            <a:custGeom>
              <a:rect b="b" l="l" r="r" t="t"/>
              <a:pathLst>
                <a:path extrusionOk="0" h="1248" w="576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 amt="50000"/>
              </a:blip>
              <a:tile algn="t" flip="none" tx="0" sx="50000" ty="0" sy="5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pic>
          <p:nvPicPr>
            <p:cNvPr id="11" name="Google Shape;11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2783" y="4875025"/>
              <a:ext cx="9162879" cy="8555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7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7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7" name="Google Shape;2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27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2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2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59" name="Google Shape;5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2"/>
          <p:cNvSpPr/>
          <p:nvPr/>
        </p:nvSpPr>
        <p:spPr>
          <a:xfrm>
            <a:off x="3636962" y="3005137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2"/>
          <p:cNvSpPr/>
          <p:nvPr/>
        </p:nvSpPr>
        <p:spPr>
          <a:xfrm>
            <a:off x="3449637" y="3005137"/>
            <a:ext cx="184150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63" name="Google Shape;63;p32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64" name="Google Shape;64;p32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32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32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4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4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4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77" name="Google Shape;7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79" name="Google Shape;79;p34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80" name="Google Shape;80;p34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34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34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92" name="Google Shape;92;p36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93" name="Google Shape;93;p3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3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3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8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8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8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09" name="Google Shape;10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1" name="Google Shape;111;p38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2" name="Google Shape;112;p38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38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38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2" name="Google Shape;122;p40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3" name="Google Shape;123;p40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40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40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2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2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2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37" name="Google Shape;13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2"/>
          <p:cNvSpPr/>
          <p:nvPr/>
        </p:nvSpPr>
        <p:spPr>
          <a:xfrm>
            <a:off x="8664575" y="4987925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2"/>
          <p:cNvSpPr/>
          <p:nvPr/>
        </p:nvSpPr>
        <p:spPr>
          <a:xfrm>
            <a:off x="8477250" y="4987925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1" name="Google Shape;141;p42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2" name="Google Shape;142;p42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42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42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"/>
          <p:cNvSpPr txBox="1"/>
          <p:nvPr>
            <p:ph idx="4294967295"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Aula </a:t>
            </a:r>
            <a:r>
              <a:rPr lang="en-US" sz="4800"/>
              <a:t>- </a:t>
            </a:r>
            <a:r>
              <a:rPr b="1" i="0" lang="en-US" sz="48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Tipos de Dados, Variáveis e Constantes </a:t>
            </a:r>
            <a:endParaRPr/>
          </a:p>
        </p:txBody>
      </p:sp>
      <p:sp>
        <p:nvSpPr>
          <p:cNvPr id="157" name="Google Shape;157;p1"/>
          <p:cNvSpPr txBox="1"/>
          <p:nvPr>
            <p:ph idx="1" type="subTitle"/>
          </p:nvPr>
        </p:nvSpPr>
        <p:spPr>
          <a:xfrm>
            <a:off x="685800" y="3611562"/>
            <a:ext cx="77724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36"/>
              <a:buNone/>
            </a:pPr>
            <a:r>
              <a:rPr b="0" i="0" lang="en-US" sz="27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Ameliara Freire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587" lvl="0" marL="36512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Os programas manipulam dados, armazenando-os e, muitas vezes, modificando seus valores.</a:t>
            </a:r>
            <a:endParaRPr/>
          </a:p>
          <a:p>
            <a:pPr indent="-255587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Basicamente, a linguagem C, manipula quatro tipos de dados: </a:t>
            </a:r>
            <a:r>
              <a:rPr b="1" i="0" lang="en-US" sz="2700" u="none" cap="none" strike="noStrik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inteiro, real, caractere e </a:t>
            </a:r>
            <a:r>
              <a:rPr b="1" i="1" lang="en-US" sz="2700" u="none" cap="none" strike="noStrik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void</a:t>
            </a:r>
            <a:r>
              <a:rPr b="0" i="1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/>
          </a:p>
          <a:p>
            <a:pPr indent="-255587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1" i="1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linguagem C não possui o tipo lógico, que armazena verdadeiro ou falso.</a:t>
            </a:r>
            <a:endParaRPr/>
          </a:p>
          <a:p>
            <a:pPr indent="-255587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Para cada tipo de dado, é necessária uma quantidade de </a:t>
            </a:r>
            <a:r>
              <a:rPr b="1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bits </a:t>
            </a: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para armazená-lo.</a:t>
            </a:r>
            <a:endParaRPr/>
          </a:p>
          <a:p>
            <a:pPr indent="-255587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Tudo na informática é medido em bits, desde o tamanho de um número até a velocidade de transferência de dados em uma rede.</a:t>
            </a:r>
            <a:endParaRPr/>
          </a:p>
        </p:txBody>
      </p:sp>
      <p:sp>
        <p:nvSpPr>
          <p:cNvPr id="163" name="Google Shape;163;p2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Tipos de dados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🞂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Os dados do tipo inteiro são toda e qualquer informação numérica que pertença ao conjunto dos números inteiros relativos (negativo, nulo ou positivo). 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🞂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Os números inteiros, em C, se dividem em três tipos:</a:t>
            </a:r>
            <a:endParaRPr/>
          </a:p>
        </p:txBody>
      </p:sp>
      <p:sp>
        <p:nvSpPr>
          <p:cNvPr id="169" name="Google Shape;169;p3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Tipos de dados: INTEIRO</a:t>
            </a:r>
            <a:endParaRPr/>
          </a:p>
        </p:txBody>
      </p:sp>
      <p:graphicFrame>
        <p:nvGraphicFramePr>
          <p:cNvPr id="170" name="Google Shape;170;p3"/>
          <p:cNvGraphicFramePr/>
          <p:nvPr/>
        </p:nvGraphicFramePr>
        <p:xfrm>
          <a:off x="1524000" y="31670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{6232C5C4-C9C0-4D98-A19E-5CD210F6DA82}</a:tableStyleId>
              </a:tblPr>
              <a:tblGrid>
                <a:gridCol w="2420925"/>
                <a:gridCol w="2420925"/>
                <a:gridCol w="242092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Tipo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Tamanho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Intervalo Suportado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short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16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-32.768 a +32.767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32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-2.147.483.648 a + 2.147.483.647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1738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long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64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-9.223.372.036.854.775.808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+9.223.372.036.854.775.807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587" lvl="0" marL="365125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92"/>
              <a:buFont typeface="Noto Sans Symbols"/>
              <a:buChar char="🞂"/>
            </a:pPr>
            <a:r>
              <a:rPr b="0" i="0" lang="en-US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diferença entre os tipos short, int e long é a quantidade de memória que é reservada para armazená-los. </a:t>
            </a:r>
            <a:endParaRPr/>
          </a:p>
          <a:p>
            <a:pPr indent="-255587" lvl="0" marL="365125" marR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92"/>
              <a:buFont typeface="Noto Sans Symbols"/>
              <a:buChar char="🞂"/>
            </a:pPr>
            <a:r>
              <a:rPr b="1" i="0" lang="en-US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Veja como é simples</a:t>
            </a:r>
            <a:r>
              <a:rPr b="0" i="0" lang="en-US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: à medida que se utiliza mais memória, aumenta o intervalo do valor que pode ser armazenado. </a:t>
            </a:r>
            <a:endParaRPr/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Verdana"/>
              <a:buChar char="◦"/>
            </a:pPr>
            <a:r>
              <a:rPr b="0" i="0" lang="en-US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Por exemplo, para armazenar um dado do tipo short, são reservados 16 bits de memória. Com isso, o tipo short pode suportar um número inteiro no intervalo de -32.768 a +32.767.</a:t>
            </a:r>
            <a:endParaRPr/>
          </a:p>
          <a:p>
            <a:pPr indent="-255587" lvl="0" marL="365125" marR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92"/>
              <a:buFont typeface="Noto Sans Symbols"/>
              <a:buChar char="🞂"/>
            </a:pPr>
            <a:r>
              <a:rPr b="0" i="0" lang="en-US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Portanto, dependendo do valor que será armazenado, deve ser escolhido um tipo (short, int ou long) que comporte tal valor. </a:t>
            </a:r>
            <a:endParaRPr/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Verdana"/>
              <a:buChar char="◦"/>
            </a:pPr>
            <a:r>
              <a:rPr b="0" i="0" lang="en-US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Por exemplo, para armazenar a idade de um funcionário, o tipo short é o mais adequado (já que a idade de uma pessoa é um valor que raramente ultrapassa 100). </a:t>
            </a:r>
            <a:endParaRPr/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Verdana"/>
              <a:buChar char="◦"/>
            </a:pPr>
            <a:r>
              <a:rPr b="0" i="0" lang="en-US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No entanto, para armazenar a quantidade de eleitores de uma cidade, deve-se usar o tipo int (note que em muitas cidades, a quantidade de eleitores ultrapassará o maior valor suportado pelo tipo short: 32.767). </a:t>
            </a:r>
            <a:endParaRPr/>
          </a:p>
          <a:p>
            <a:pPr indent="-255587" lvl="0" marL="365125" marR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92"/>
              <a:buFont typeface="Noto Sans Symbols"/>
              <a:buChar char="🞂"/>
            </a:pPr>
            <a:r>
              <a:rPr b="1" i="0" lang="en-US" sz="1900" u="none" cap="none" strike="noStrik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Para facilitar nosso estudo, sempre será usado o tipo int para armazenar os dados inteiros.</a:t>
            </a:r>
            <a:endParaRPr/>
          </a:p>
        </p:txBody>
      </p:sp>
      <p:sp>
        <p:nvSpPr>
          <p:cNvPr id="176" name="Google Shape;176;p4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Tipos de dados: INTEIRO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🞂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Os dados do tipo real são toda e qualquer informação numérica que pertença ao conjunto de números reais (negativo, positivo ou nulo). 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🞂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Os números reais, em C, podem ser de dois tipos:</a:t>
            </a:r>
            <a:endParaRPr/>
          </a:p>
        </p:txBody>
      </p:sp>
      <p:sp>
        <p:nvSpPr>
          <p:cNvPr id="182" name="Google Shape;182;p5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Tipos de dados: REAL</a:t>
            </a:r>
            <a:endParaRPr/>
          </a:p>
        </p:txBody>
      </p:sp>
      <p:graphicFrame>
        <p:nvGraphicFramePr>
          <p:cNvPr id="183" name="Google Shape;183;p5"/>
          <p:cNvGraphicFramePr/>
          <p:nvPr/>
        </p:nvGraphicFramePr>
        <p:xfrm>
          <a:off x="571500" y="3405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{6232C5C4-C9C0-4D98-A19E-5CD210F6DA82}</a:tableStyleId>
              </a:tblPr>
              <a:tblGrid>
                <a:gridCol w="2714625"/>
                <a:gridCol w="2714625"/>
                <a:gridCol w="271462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Tipo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Tamanho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Intervalo Suportado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float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32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3.4E-38 a 3.4E+38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double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64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1.7E-308 a 1.7E+308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Para o tipo </a:t>
            </a:r>
            <a:r>
              <a:rPr b="0" i="1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float</a:t>
            </a: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são reservados 32 bits de memória, o que possibilita armazenar um valor no intervalo 3.4–38 a 3.438. 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Como o tipo </a:t>
            </a:r>
            <a:r>
              <a:rPr b="0" i="1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float</a:t>
            </a: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suporta valores bem altos, sempre será usado o tipo </a:t>
            </a:r>
            <a:r>
              <a:rPr b="0" i="1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float</a:t>
            </a: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para armazenar os dados reais.</a:t>
            </a:r>
            <a:endParaRPr/>
          </a:p>
        </p:txBody>
      </p:sp>
      <p:sp>
        <p:nvSpPr>
          <p:cNvPr id="189" name="Google Shape;189;p6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Tipos de dados: REAL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586" lvl="0" marL="365125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Os caracteres são do tipo </a:t>
            </a:r>
            <a:r>
              <a:rPr b="1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char, </a:t>
            </a: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representados</a:t>
            </a:r>
            <a:r>
              <a:rPr b="1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por toda e qualquer informação composta por um </a:t>
            </a:r>
            <a:r>
              <a:rPr b="1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único caractere </a:t>
            </a: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alfa numérico (a, b, c,...z, A, B, C,...Z, 0...9) ou especial (como por exemplo: ; # ? @ ! &lt; ?). </a:t>
            </a:r>
            <a:endParaRPr/>
          </a:p>
          <a:p>
            <a:pPr indent="-255586" lvl="0" marL="365125" marR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 tipo char armazena um único caractere.</a:t>
            </a:r>
            <a:endParaRPr/>
          </a:p>
          <a:p>
            <a:pPr indent="-255586" lvl="0" marL="365125" marR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Quando se deseja armazenar vários caracteres, é necessário definir um vetor de caractere. </a:t>
            </a:r>
            <a:endParaRPr/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◦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Por exemplo, o nome de um aluno é formado por uma cadeia de caracteres, assim, será necessário usar um vetor de caracteres. </a:t>
            </a:r>
            <a:endParaRPr/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◦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Cada caractere armazenado ocupa o espaço de 8 bits de memória. Um caractere deve ser representado entre apóstrofo, por exemplo: ‘a’. </a:t>
            </a:r>
            <a:endParaRPr/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◦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Mas, quando temos uma cadeia de caracteres, esta deve ser representada entre aspas dupla, por exemplo: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“Pedro Goncalves”.</a:t>
            </a:r>
            <a:endParaRPr/>
          </a:p>
        </p:txBody>
      </p:sp>
      <p:sp>
        <p:nvSpPr>
          <p:cNvPr id="195" name="Google Shape;195;p7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Tipos de dados: Caractere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587" lvl="0" marL="36512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Em Inglês, </a:t>
            </a:r>
            <a:r>
              <a:rPr b="1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void </a:t>
            </a: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quer dizer vazio e é isto mesmo que o </a:t>
            </a:r>
            <a:r>
              <a:rPr b="0" i="1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void é. </a:t>
            </a:r>
            <a:endParaRPr/>
          </a:p>
          <a:p>
            <a:pPr indent="-255587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1" i="1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Void </a:t>
            </a: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é um tipo que não armazena nada (um tanto esquisito, não é?). </a:t>
            </a:r>
            <a:endParaRPr/>
          </a:p>
          <a:p>
            <a:pPr indent="-255587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Este tipo serve para indicar que um resultado não tem um tipo definido. </a:t>
            </a:r>
            <a:endParaRPr/>
          </a:p>
          <a:p>
            <a:pPr indent="-255587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Ele é utilizado quando estamos definindo funções nos nossos programas.</a:t>
            </a:r>
            <a:endParaRPr/>
          </a:p>
          <a:p>
            <a:pPr indent="-255587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Permite-nos desenvolver funções que não retornam nada e funções que não têm parâmetros. </a:t>
            </a:r>
            <a:endParaRPr/>
          </a:p>
        </p:txBody>
      </p:sp>
      <p:sp>
        <p:nvSpPr>
          <p:cNvPr id="201" name="Google Shape;201;p8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Tipos de dados: Void</a:t>
            </a:r>
            <a:endParaRPr b="1" i="0" sz="4100" u="none" cap="none" strike="noStrik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586" lvl="0" marL="36512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Qualquer dado que seja manipulado pelo programa deve ficar armazenado na memória principal do computador. </a:t>
            </a:r>
            <a:endParaRPr/>
          </a:p>
          <a:p>
            <a:pPr indent="-255586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Para que o armazenamento seja possível, precisaremos reservar espaços na memória principal do computador. </a:t>
            </a:r>
            <a:endParaRPr/>
          </a:p>
          <a:p>
            <a:pPr indent="-255586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As variáveis e constantes são unidades básicas de armazenamento dos dados em programação.</a:t>
            </a:r>
            <a:endParaRPr/>
          </a:p>
          <a:p>
            <a:pPr indent="-255586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Elas são um espaço de memória reservado para armazenar um certo tipo de dado e possuem um identificador (nome) para referenciar o seu conteúdo. </a:t>
            </a:r>
            <a:endParaRPr/>
          </a:p>
          <a:p>
            <a:pPr indent="-255586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Dessa forma, nossos dados ficam armazenados em </a:t>
            </a:r>
            <a:r>
              <a:rPr b="1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constantes ou variáveis</a:t>
            </a: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/>
          </a:p>
        </p:txBody>
      </p:sp>
      <p:sp>
        <p:nvSpPr>
          <p:cNvPr id="207" name="Google Shape;207;p9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e Constantes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Uma </a:t>
            </a:r>
            <a:r>
              <a:rPr b="1" i="0" lang="en-US" sz="2700" u="none" cap="none" strike="noStrik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variável</a:t>
            </a: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pode conter, a cada instante, valores diferentes. 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No entanto, as </a:t>
            </a:r>
            <a:r>
              <a:rPr b="1" i="0" lang="en-US" sz="2700" u="none" cap="none" strike="noStrik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constantes</a:t>
            </a: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referem-se a valores fixos que não podem ser alterados durante a execução do programa. 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 modo como cada constante é representada depende do seu tipo.</a:t>
            </a:r>
            <a:endParaRPr/>
          </a:p>
        </p:txBody>
      </p:sp>
      <p:sp>
        <p:nvSpPr>
          <p:cNvPr id="213" name="Google Shape;213;p10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e Constantes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Para entender o conceito de variáveis e constantes, vamos fazer a seguinte analogia: </a:t>
            </a:r>
            <a:endParaRPr/>
          </a:p>
          <a:p>
            <a:pPr indent="-228599" lvl="1" marL="620712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Um armário cheio de gavetas de tamanhos diferentes. </a:t>
            </a:r>
            <a:endParaRPr/>
          </a:p>
          <a:p>
            <a:pPr indent="-228599" lvl="1" marL="620712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Acompanhem o raciocínio: Pedro tem um armário e decide que em cada gaveta será guardado um tipo de roupa: camisa, bermuda, calça, etc.</a:t>
            </a:r>
            <a:endParaRPr/>
          </a:p>
        </p:txBody>
      </p:sp>
      <p:sp>
        <p:nvSpPr>
          <p:cNvPr id="219" name="Google Shape;219;p11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e Constantes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312" y="0"/>
            <a:ext cx="8294687" cy="6215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586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8"/>
              <a:buFont typeface="Noto Sans Symbols"/>
              <a:buChar char="🞂"/>
            </a:pPr>
            <a:r>
              <a:rPr b="0" i="0" lang="en-US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Em uma dada gaveta, só podem ser armazenadas camisas. Não será permitido o armazenamento de calças nesta gaveta. </a:t>
            </a:r>
            <a:endParaRPr/>
          </a:p>
          <a:p>
            <a:pPr indent="-255586" lvl="0" marL="365125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28"/>
              <a:buFont typeface="Noto Sans Symbols"/>
              <a:buChar char="🞂"/>
            </a:pPr>
            <a:r>
              <a:rPr b="0" i="0" lang="en-US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Para facilitar a identificação, Pedro coloca uma etiqueta informando o que cada gaveta guarda. Com isso, Pedro poderá identificar, rapidamente, em qual a gaveta estão guardadas suas camisas.</a:t>
            </a:r>
            <a:endParaRPr/>
          </a:p>
          <a:p>
            <a:pPr indent="-255586" lvl="0" marL="365125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28"/>
              <a:buFont typeface="Noto Sans Symbols"/>
              <a:buChar char="🞂"/>
            </a:pPr>
            <a:r>
              <a:rPr b="0" i="0" lang="en-US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Agora vamos associar a idéia das gavetas com a idéia de variáveis, constantes e tipo. </a:t>
            </a:r>
            <a:endParaRPr/>
          </a:p>
          <a:p>
            <a:pPr indent="-228599" lvl="1" marL="620712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Verdana"/>
              <a:buChar char="◦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As gavetas que guardam as roupas são como os espaços de memória que armazenam nossos dados. </a:t>
            </a:r>
            <a:endParaRPr/>
          </a:p>
          <a:p>
            <a:pPr indent="-228599" lvl="1" marL="620712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Verdana"/>
              <a:buChar char="◦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Assim como uma gaveta só pode armazenar um tipo de roupa, os espaços de memória são especificados para armazenar um tipo de dado. </a:t>
            </a:r>
            <a:endParaRPr/>
          </a:p>
          <a:p>
            <a:pPr indent="-228599" lvl="1" marL="620712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Verdana"/>
              <a:buChar char="◦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Dependendo do tipo de roupa, a gaveta precisa ser maior ou menor. Da mesma forma, dependendo do tipo de dado, é feito uma reserva de mais ou menos memória para armazená-lo.</a:t>
            </a:r>
            <a:endParaRPr/>
          </a:p>
        </p:txBody>
      </p:sp>
      <p:sp>
        <p:nvSpPr>
          <p:cNvPr id="230" name="Google Shape;230;p13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e Constantes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As etiquetas das gavetas são os identificadores dos nossos espaços de memória. 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Assim, facilmente iremos encontrar um dado armazenado nos nossos espaços de memória. 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Quando temos uma variável, o conteúdo da nossa gaveta pode mudar ao longo do tempo. 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Mas, no caso de uma constante, seu conteúdo será sempre o mesmo.</a:t>
            </a:r>
            <a:endParaRPr/>
          </a:p>
          <a:p>
            <a:pPr indent="-139001" lvl="0" marL="36512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t/>
            </a:r>
            <a:endParaRPr b="0" i="0" sz="27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36" name="Google Shape;236;p14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e Constantes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587" lvl="0" marL="365125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6"/>
              <a:buFont typeface="Noto Sans Symbols"/>
              <a:buChar char="🞂"/>
            </a:pPr>
            <a:r>
              <a:rPr b="0" i="0" lang="en-US" sz="1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Para que o compilador saiba quais dados estamos querendo manipular, eles precisam ter um nome. </a:t>
            </a:r>
            <a:endParaRPr/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Verdana"/>
              <a:buChar char="◦"/>
            </a:pPr>
            <a:r>
              <a:rPr b="0" i="0" lang="en-US" sz="1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É como nós, todos temos um nome. </a:t>
            </a:r>
            <a:endParaRPr/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Verdana"/>
              <a:buChar char="◦"/>
            </a:pPr>
            <a:r>
              <a:rPr b="0" i="0" lang="en-US" sz="1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Sabemos quando alguém está nos chamando quando falam o nosso nome. </a:t>
            </a:r>
            <a:endParaRPr/>
          </a:p>
          <a:p>
            <a:pPr indent="-255587" lvl="0" marL="365125" marR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56"/>
              <a:buFont typeface="Noto Sans Symbols"/>
              <a:buChar char="🞂"/>
            </a:pPr>
            <a:r>
              <a:rPr b="0" i="0" lang="en-US" sz="1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Vai acontecer a mesma coisa com os espaços de memória dos nossos programas, precisamos identificá-los de alguma forma. </a:t>
            </a:r>
            <a:endParaRPr/>
          </a:p>
          <a:p>
            <a:pPr indent="-255587" lvl="0" marL="365125" marR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56"/>
              <a:buFont typeface="Noto Sans Symbols"/>
              <a:buChar char="🞂"/>
            </a:pPr>
            <a:r>
              <a:rPr b="0" i="0" lang="en-US" sz="1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Os </a:t>
            </a:r>
            <a:r>
              <a:rPr b="1" i="0" lang="en-US" sz="1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identificadores</a:t>
            </a:r>
            <a:r>
              <a:rPr b="0" i="0" lang="en-US" sz="1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são os nomes que damos às nossas variáveis, constantes, funções e procedimentos usados no programa.</a:t>
            </a:r>
            <a:endParaRPr/>
          </a:p>
          <a:p>
            <a:pPr indent="-255587" lvl="0" marL="365125" marR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56"/>
              <a:buFont typeface="Noto Sans Symbols"/>
              <a:buChar char="🞂"/>
            </a:pPr>
            <a:r>
              <a:rPr b="0" i="0" lang="en-US" sz="1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Para criar um identificador é necessário respeitar as regras a seguir:</a:t>
            </a:r>
            <a:endParaRPr/>
          </a:p>
          <a:p>
            <a:pPr indent="-255587" lvl="0" marL="365125" marR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56"/>
              <a:buFont typeface="Noto Sans Symbols"/>
              <a:buNone/>
            </a:pPr>
            <a:r>
              <a:t/>
            </a:r>
            <a:endParaRPr b="0" i="0" sz="17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Verdana"/>
              <a:buChar char="◦"/>
            </a:pPr>
            <a:r>
              <a:rPr b="0" i="0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 primeiro caractere deve ser uma letra ou _ (</a:t>
            </a:r>
            <a:r>
              <a:rPr b="0" i="1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underscore);</a:t>
            </a:r>
            <a:endParaRPr/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Verdana"/>
              <a:buChar char="◦"/>
            </a:pPr>
            <a:r>
              <a:rPr b="0" i="0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 restante do nome deve ser formado por caracteres pertencentes ao seguinte conjunto: a,b,c,..z, A,B,C,...Z, 0,1,2,...,9, _ (ou seja: letras, números e </a:t>
            </a:r>
            <a:r>
              <a:rPr b="0" i="1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underscore);</a:t>
            </a:r>
            <a:endParaRPr/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Verdana"/>
              <a:buChar char="◦"/>
            </a:pPr>
            <a:r>
              <a:rPr b="0" i="0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Não deve haver espaço em branco (ou seja, não existem identificadores compostos, formados por dois ou mais nomes);</a:t>
            </a:r>
            <a:endParaRPr/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Verdana"/>
              <a:buChar char="◦"/>
            </a:pPr>
            <a:r>
              <a:rPr b="0" i="0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Não utilizar acentos, nem cedilha;</a:t>
            </a:r>
            <a:endParaRPr/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Verdana"/>
              <a:buChar char="◦"/>
            </a:pPr>
            <a:r>
              <a:rPr b="0" i="0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Os identificadores podem ter até 32 caracteres;</a:t>
            </a:r>
            <a:endParaRPr/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Verdana"/>
              <a:buChar char="◦"/>
            </a:pPr>
            <a:r>
              <a:rPr b="0" i="0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Não deve haver identificadores repetidos (Se dermos o mesmo nome para duas variáveis do nosso programa, o compilador não vai saber qual delas será chamada, e isso não pode acontecer).</a:t>
            </a:r>
            <a:endParaRPr/>
          </a:p>
        </p:txBody>
      </p:sp>
      <p:sp>
        <p:nvSpPr>
          <p:cNvPr id="242" name="Google Shape;242;p15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Identificadores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586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linguagem C faz distinção de maiúsculas e minúsculas. </a:t>
            </a:r>
            <a:endParaRPr/>
          </a:p>
          <a:p>
            <a:pPr indent="-255586" lvl="0" marL="365125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Assim, os identificadores: </a:t>
            </a:r>
            <a:r>
              <a:rPr b="0" i="0" lang="en-US" sz="2300" u="non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Media, MEDIA, MediA e media </a:t>
            </a: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são diferentes.</a:t>
            </a:r>
            <a:endParaRPr/>
          </a:p>
          <a:p>
            <a:pPr indent="-255586" lvl="0" marL="365125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 fato de termos uma única letra de forma diferente (maiúscula ou minúscula), já faz com que os identificadores se diferenciem. </a:t>
            </a:r>
            <a:endParaRPr/>
          </a:p>
          <a:p>
            <a:pPr indent="-255586" lvl="0" marL="365125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Esta propriedade é chamada de </a:t>
            </a:r>
            <a:r>
              <a:rPr b="1" i="1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case sensibility </a:t>
            </a: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(sensibilidade a letras maiúsculas e minúsculas).</a:t>
            </a:r>
            <a:endParaRPr/>
          </a:p>
          <a:p>
            <a:pPr indent="-255586" lvl="0" marL="365125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1" i="0" lang="en-US" sz="2300" u="non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DICA: Boa Prática de Programação</a:t>
            </a:r>
            <a:endParaRPr b="0" i="0" sz="2300" u="none">
              <a:solidFill>
                <a:srgbClr val="FF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8599" lvl="1" marL="620712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◦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Escolham bem os nomes das variáveis e constantes do programa. </a:t>
            </a:r>
            <a:endParaRPr/>
          </a:p>
          <a:p>
            <a:pPr indent="-228599" lvl="1" marL="620712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◦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Os identificadores escolhidos devem ser claros, a fim de explicitar o conteúdo que será armazenado, mas também não devem ser extensos para não dificultar a escrita.</a:t>
            </a:r>
            <a:endParaRPr/>
          </a:p>
        </p:txBody>
      </p:sp>
      <p:sp>
        <p:nvSpPr>
          <p:cNvPr id="248" name="Google Shape;248;p16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Identificadores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587" lvl="0" marL="365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</a:t>
            </a:r>
            <a:endParaRPr/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X2</a:t>
            </a:r>
            <a:endParaRPr/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Nome_Aluno</a:t>
            </a:r>
            <a:endParaRPr/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Media</a:t>
            </a:r>
            <a:endParaRPr/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SalarioFuncionario</a:t>
            </a:r>
            <a:endParaRPr/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2m </a:t>
            </a:r>
            <a:endParaRPr/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Nome disciplina</a:t>
            </a:r>
            <a:endParaRPr/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media*</a:t>
            </a:r>
            <a:endParaRPr/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Nome disciplina</a:t>
            </a:r>
            <a:endParaRPr/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funcionário</a:t>
            </a:r>
            <a:endParaRPr/>
          </a:p>
        </p:txBody>
      </p:sp>
      <p:sp>
        <p:nvSpPr>
          <p:cNvPr id="254" name="Google Shape;254;p17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Exemplos de Identificadores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586" lvl="0" marL="36512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Para que se possa usar uma variável em um programa, primeiramente, é necessário fazer a declaração dela. </a:t>
            </a:r>
            <a:endParaRPr/>
          </a:p>
          <a:p>
            <a:pPr indent="-255586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declaração de uma variável informa ao processador duas coisas: o identificador(nome) da variável e o seu tipo de dado. </a:t>
            </a:r>
            <a:endParaRPr/>
          </a:p>
          <a:p>
            <a:pPr indent="-255586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As variáveis precisam de um nome para que o processador saiba onde desejamos armazenar o nosso dado. </a:t>
            </a:r>
            <a:endParaRPr/>
          </a:p>
          <a:p>
            <a:pPr indent="-255586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Além disso, toda variável precisa ser associada a um tipo de dado, para que o processador reserve o espaço de memória necessário para o seu armazenamento.</a:t>
            </a:r>
            <a:endParaRPr/>
          </a:p>
          <a:p>
            <a:pPr indent="-255586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1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Resumindo, </a:t>
            </a: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toda variável possui um nome, um tipo e um conteúdo (ou valor que é armazenado na variável).</a:t>
            </a:r>
            <a:endParaRPr/>
          </a:p>
        </p:txBody>
      </p:sp>
      <p:sp>
        <p:nvSpPr>
          <p:cNvPr id="260" name="Google Shape;260;p18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Declaração de Variáveis</a:t>
            </a:r>
            <a:endParaRPr/>
          </a:p>
        </p:txBody>
      </p:sp>
      <p:graphicFrame>
        <p:nvGraphicFramePr>
          <p:cNvPr id="261" name="Google Shape;261;p18"/>
          <p:cNvGraphicFramePr/>
          <p:nvPr/>
        </p:nvGraphicFramePr>
        <p:xfrm>
          <a:off x="2786062" y="5929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{6232C5C4-C9C0-4D98-A19E-5CD210F6DA82}</a:tableStyleId>
              </a:tblPr>
              <a:tblGrid>
                <a:gridCol w="6096000"/>
              </a:tblGrid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Lucida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Sintaxe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Lucida Sans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tipo [variavel_1, variavel_2, ...];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" name="Google Shape;266;p19"/>
          <p:cNvGraphicFramePr/>
          <p:nvPr/>
        </p:nvGraphicFramePr>
        <p:xfrm>
          <a:off x="457200" y="1481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{6232C5C4-C9C0-4D98-A19E-5CD210F6DA82}</a:tableStyleId>
              </a:tblPr>
              <a:tblGrid>
                <a:gridCol w="82296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Declaração de Variáveis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01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int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 idade, matricula;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float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 media, total;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char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 letra, nome_aluno[20];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sp>
        <p:nvSpPr>
          <p:cNvPr id="267" name="Google Shape;267;p19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Exemplos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586" lvl="0" marL="36512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Diferente das variáveis, as constantes mantêm seu valor ao longo do programa. </a:t>
            </a:r>
            <a:endParaRPr/>
          </a:p>
          <a:p>
            <a:pPr indent="-255586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Para indicar ao compilador que se trata de uma constante, a diretiva de compilação </a:t>
            </a:r>
            <a:r>
              <a:rPr b="1" i="1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#define</a:t>
            </a:r>
            <a:r>
              <a:rPr b="1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é utilizada.</a:t>
            </a:r>
            <a:endParaRPr/>
          </a:p>
          <a:p>
            <a:pPr indent="-156273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None/>
            </a:pPr>
            <a:r>
              <a:t/>
            </a:r>
            <a:endParaRPr b="0" i="0" sz="23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56273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None/>
            </a:pPr>
            <a:r>
              <a:t/>
            </a:r>
            <a:endParaRPr b="0" i="0" sz="23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56273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None/>
            </a:pPr>
            <a:r>
              <a:t/>
            </a:r>
            <a:endParaRPr b="0" i="0" sz="23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55586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Não é necessário colocar o ponto e vírgula no final da linha e também não precisa informar o tipo de dado da constante. </a:t>
            </a:r>
            <a:endParaRPr/>
          </a:p>
          <a:p>
            <a:pPr indent="-255586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 valor de uma constante não pode ser modificado, de maneira alguma, ao longo da execução do programa.</a:t>
            </a:r>
            <a:endParaRPr/>
          </a:p>
        </p:txBody>
      </p:sp>
      <p:sp>
        <p:nvSpPr>
          <p:cNvPr id="273" name="Google Shape;273;p20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Declaração de Constantes</a:t>
            </a:r>
            <a:endParaRPr/>
          </a:p>
        </p:txBody>
      </p:sp>
      <p:graphicFrame>
        <p:nvGraphicFramePr>
          <p:cNvPr id="274" name="Google Shape;274;p20"/>
          <p:cNvGraphicFramePr/>
          <p:nvPr/>
        </p:nvGraphicFramePr>
        <p:xfrm>
          <a:off x="1524000" y="291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{6232C5C4-C9C0-4D98-A19E-5CD210F6DA82}</a:tableStyleId>
              </a:tblPr>
              <a:tblGrid>
                <a:gridCol w="6096000"/>
              </a:tblGrid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Sintaxe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Lucida Sans"/>
                        <a:buNone/>
                      </a:pPr>
                      <a:r>
                        <a:rPr b="0" i="0" lang="en-US" sz="22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#define &lt;identificador&gt; &lt;valor&gt;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9" name="Google Shape;279;p21"/>
          <p:cNvGraphicFramePr/>
          <p:nvPr/>
        </p:nvGraphicFramePr>
        <p:xfrm>
          <a:off x="457200" y="192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{6232C5C4-C9C0-4D98-A19E-5CD210F6DA82}</a:tableStyleId>
              </a:tblPr>
              <a:tblGrid>
                <a:gridCol w="82296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Declaração de Constantes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59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#define DIAS 7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#define PI 3.1416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#define RESPOSTA ‘s’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#define DISCIPLINA “Matemática”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sp>
        <p:nvSpPr>
          <p:cNvPr id="280" name="Google Shape;280;p21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Exemplos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587" lvl="0" marL="36512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Esse operador é utilizado para armazenar um valor em uma dada variável. </a:t>
            </a:r>
            <a:endParaRPr/>
          </a:p>
          <a:p>
            <a:pPr indent="-255587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Assim, o operador de atribuição nos possibilita armazenar um dado em um espaço de memória, que foi previamente declarado.</a:t>
            </a:r>
            <a:endParaRPr/>
          </a:p>
          <a:p>
            <a:pPr indent="-255587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É importante que o dado que será armazenado seja compatível com o tipo da variável que receberá a atribuição. </a:t>
            </a:r>
            <a:endParaRPr/>
          </a:p>
          <a:p>
            <a:pPr indent="-228599" lvl="1" marL="620712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Por exemplo, as variáveis reais podem receber valores reais e inteiros. No entanto, uma variável inteira não pode receber um valor real.</a:t>
            </a:r>
            <a:endParaRPr/>
          </a:p>
        </p:txBody>
      </p:sp>
      <p:sp>
        <p:nvSpPr>
          <p:cNvPr id="286" name="Google Shape;286;p22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 de Atribuição (=)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 de Atribuição (=)</a:t>
            </a:r>
            <a:endParaRPr/>
          </a:p>
        </p:txBody>
      </p:sp>
      <p:graphicFrame>
        <p:nvGraphicFramePr>
          <p:cNvPr id="292" name="Google Shape;292;p23"/>
          <p:cNvGraphicFramePr/>
          <p:nvPr/>
        </p:nvGraphicFramePr>
        <p:xfrm>
          <a:off x="1524000" y="16144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{6232C5C4-C9C0-4D98-A19E-5CD210F6DA82}</a:tableStyleId>
              </a:tblPr>
              <a:tblGrid>
                <a:gridCol w="633412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Sintaxe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5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Lucida Sans"/>
                        <a:buNone/>
                      </a:pPr>
                      <a:r>
                        <a:rPr b="0" i="0" lang="en-US" sz="22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Variavel = Valor;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Lucida Sans"/>
                        <a:buNone/>
                      </a:pPr>
                      <a:r>
                        <a:t/>
                      </a:r>
                      <a:endParaRPr b="0" i="0" sz="22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Lucida Sans"/>
                        <a:buNone/>
                      </a:pPr>
                      <a:r>
                        <a:rPr b="0" i="0" lang="en-US" sz="22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Variavel_1 = Variavel_2;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Lucida Sans"/>
                        <a:buNone/>
                      </a:pPr>
                      <a:r>
                        <a:t/>
                      </a:r>
                      <a:endParaRPr b="0" i="0" sz="22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Lucida Sans"/>
                        <a:buNone/>
                      </a:pPr>
                      <a:r>
                        <a:rPr b="0" i="0" lang="en-US" sz="22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Variavel = Expressão Aritmética;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Lucida Sans"/>
                        <a:buNone/>
                      </a:pPr>
                      <a:r>
                        <a:t/>
                      </a:r>
                      <a:endParaRPr b="0" i="0" sz="22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Lucida Sans"/>
                        <a:buNone/>
                      </a:pPr>
                      <a:r>
                        <a:rPr b="0" i="0" lang="en-US" sz="22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Variavel = função;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Lucida Sans"/>
                        <a:buNone/>
                      </a:pPr>
                      <a:r>
                        <a:t/>
                      </a:r>
                      <a:endParaRPr b="0" i="0" sz="22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Lucida Sans"/>
                        <a:buNone/>
                      </a:pPr>
                      <a:r>
                        <a:rPr b="0" i="0" lang="en-US" sz="22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Variavel_1 = variavel_2 = variavel_3 = valor;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2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Exemplos</a:t>
            </a:r>
            <a:endParaRPr/>
          </a:p>
        </p:txBody>
      </p:sp>
      <p:graphicFrame>
        <p:nvGraphicFramePr>
          <p:cNvPr id="298" name="Google Shape;298;p24"/>
          <p:cNvGraphicFramePr/>
          <p:nvPr/>
        </p:nvGraphicFramePr>
        <p:xfrm>
          <a:off x="1857375" y="128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{6232C5C4-C9C0-4D98-A19E-5CD210F6DA82}</a:tableStyleId>
              </a:tblPr>
              <a:tblGrid>
                <a:gridCol w="633412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Comando de Atribuição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029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float Media, X, Y, Z;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int J, L, M, K, A, B;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char Letra;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Media = 7.5;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Letra = ’D’;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X = Y;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K = A + B;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Z = sqrt(4);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J = L = M = 10;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7_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3_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5_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6_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2_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4_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68EADED0FE1241A1A1B62123EB79AC" ma:contentTypeVersion="0" ma:contentTypeDescription="Crie um novo documento." ma:contentTypeScope="" ma:versionID="1aa02b7e67c5ee039342b84a3ddf657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EEDF0B-1821-46F1-9214-3AE20D61CF61}"/>
</file>

<file path=customXml/itemProps2.xml><?xml version="1.0" encoding="utf-8"?>
<ds:datastoreItem xmlns:ds="http://schemas.openxmlformats.org/officeDocument/2006/customXml" ds:itemID="{118089C6-4910-4E1A-B6F4-E33719528F86}"/>
</file>

<file path=customXml/itemProps3.xml><?xml version="1.0" encoding="utf-8"?>
<ds:datastoreItem xmlns:ds="http://schemas.openxmlformats.org/officeDocument/2006/customXml" ds:itemID="{A57E1E78-A1AD-483E-8342-0F2112A1E5C0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Ameliara</dc:creator>
  <dcterms:created xsi:type="dcterms:W3CDTF">2011-02-28T14:03:55Z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0x0101004868EADED0FE1241A1A1B62123EB79AC</vt:lpwstr>
  </property>
</Properties>
</file>